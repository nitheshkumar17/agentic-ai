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368" r:id="rId4"/>
    <p:sldId id="369" r:id="rId5"/>
    <p:sldId id="373" r:id="rId6"/>
    <p:sldId id="370" r:id="rId7"/>
    <p:sldId id="374" r:id="rId8"/>
    <p:sldId id="375" r:id="rId9"/>
    <p:sldId id="377" r:id="rId10"/>
    <p:sldId id="378" r:id="rId11"/>
    <p:sldId id="379" r:id="rId12"/>
    <p:sldId id="3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789712" y="2530618"/>
            <a:ext cx="10515600" cy="16911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IN" sz="3800" b="1" dirty="0">
                <a:solidFill>
                  <a:srgbClr val="7030A0"/>
                </a:solidFill>
              </a:rPr>
              <a:t>AcadAdvisor — An Agentic AI Based Student Academic Advisor</a:t>
            </a:r>
            <a:endParaRPr lang="en-IN" sz="3800" dirty="0">
              <a:solidFill>
                <a:srgbClr val="7030A0"/>
              </a:solidFill>
            </a:endParaRPr>
          </a:p>
        </p:txBody>
      </p:sp>
      <p:sp>
        <p:nvSpPr>
          <p:cNvPr id="10" name="TextBox 1"/>
          <p:cNvSpPr txBox="1">
            <a:spLocks noChangeArrowheads="1"/>
          </p:cNvSpPr>
          <p:nvPr/>
        </p:nvSpPr>
        <p:spPr bwMode="auto">
          <a:xfrm>
            <a:off x="962889" y="5183902"/>
            <a:ext cx="3429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D</a:t>
            </a:r>
            <a:r>
              <a:rPr lang="en-IN" altLang="en-US" sz="2400" b="1" dirty="0" err="1">
                <a:solidFill>
                  <a:srgbClr val="FF0000"/>
                </a:solidFill>
              </a:rPr>
              <a:t>r.M.Soundarya</a:t>
            </a:r>
            <a:endParaRPr lang="en-I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5169159" y="4816828"/>
            <a:ext cx="702284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Nithesh Kumar S         231501114 </a:t>
            </a:r>
          </a:p>
          <a:p>
            <a:pPr>
              <a:spcBef>
                <a:spcPct val="0"/>
              </a:spcBef>
              <a:buClr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Lena Vishal J               231501083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Lithesh M                     231501084</a:t>
            </a:r>
          </a:p>
        </p:txBody>
      </p:sp>
      <p:sp>
        <p:nvSpPr>
          <p:cNvPr id="15" name="Title 1"/>
          <p:cNvSpPr txBox="1"/>
          <p:nvPr/>
        </p:nvSpPr>
        <p:spPr>
          <a:xfrm>
            <a:off x="708891" y="1213137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</a:t>
            </a:r>
            <a:r>
              <a:rPr lang="en-US" altLang="en-IN" sz="24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 Artificial Intelligence and Machine Learning</a:t>
            </a:r>
            <a:r>
              <a:rPr lang="en-IN" sz="24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65" y="1492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187" y="311150"/>
            <a:ext cx="10668000" cy="1216025"/>
          </a:xfrm>
        </p:spPr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are scattered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attendance, passing, CGPA, Honours and degree-class rules sit across the 25-page REC UG Regulations 2023 and a 233-page AI&amp;ML curriculum.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Mistakes are costly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missing the 65–74% condonation window means an SA grade; ignoring the 45% end-sem floor means failing despite a good CA score.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advising doesn’t scale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counsellors answer the same questions every semester.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 LLMs and basic RAG fall short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they invent clause numbers, miscalculate CGPA, retrieve only once and can’t say “I’m not sure”.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mails get missed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students miss deadlines or apply without meeting the CGPA/arrear criteria.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advisor that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cites the rulebook, computes with tools, checks itself and escalates to a human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and watches the inbox for drives.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6779" y="6245225"/>
            <a:ext cx="3633537" cy="476250"/>
          </a:xfrm>
        </p:spPr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User and Stakeholder Analysis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cited answers plus their own CGPA, attendance standing, exam mark targets and placement eligibility.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Counsellors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review only the low-confidence answers in a review queue (approve / reject).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Cell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drive emails are auto-parsed; students get an eligibility check and a 3-day prep plan.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college-domain Google login, allow-listed admins, encrypted Gmail tokens.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Office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official PDFs stay the single source of truth; a rule update just means re-indexing.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pPr lvl="0">
              <a:spcBef>
                <a:spcPts val="30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Page-cited answers,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tool-computed results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every uncertain case routed to a human, and placement alerts that arrive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opening the app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10525" y="6245225"/>
            <a:ext cx="3288633" cy="476250"/>
          </a:xfrm>
        </p:spPr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Proposed Agentic AI Solution &amp; Novel Features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200"/>
              </a:spcBef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AcadAdvisor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two cooperating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LangGraph agent teams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working over one student profile:</a:t>
            </a:r>
          </a:p>
          <a:p>
            <a:pPr lvl="0">
              <a:spcBef>
                <a:spcPts val="300"/>
              </a:spcBef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Advisor Team: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Memory → Supervisor → ReAct Controller → Synthesis → Critic/Verifier → Reflection</a:t>
            </a:r>
          </a:p>
          <a:p>
            <a:pPr lvl="0">
              <a:spcBef>
                <a:spcPts val="300"/>
              </a:spcBef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Team: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Observer → Classifier → Summarizer → Recruitment → Eligibility → Prep Plan → Critic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 Features</a:t>
            </a:r>
          </a:p>
          <a:p>
            <a:pPr lvl="0">
              <a:spcBef>
                <a:spcPts val="300"/>
              </a:spcBef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One-action ReAct controller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picks retrieve / tool / finish live; can’t answer without evidence.</a:t>
            </a:r>
          </a:p>
          <a:p>
            <a:pPr lvl="0">
              <a:spcBef>
                <a:spcPts val="300"/>
              </a:spcBef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“LLM never does maths”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11 tools encode Clauses 4.10, 7, 14.1, 15.5, 16.2 exactly.</a:t>
            </a:r>
          </a:p>
          <a:p>
            <a:pPr lvl="0">
              <a:spcBef>
                <a:spcPts val="300"/>
              </a:spcBef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self-doubt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verifier + 2 reflection retries, then counsellor escalation.</a:t>
            </a:r>
          </a:p>
          <a:p>
            <a:pPr lvl="0">
              <a:spcBef>
                <a:spcPts val="300"/>
              </a:spcBef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placement agent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reads Gmail itself, checks eligibility, builds a 3-day prep plan.</a:t>
            </a:r>
          </a:p>
          <a:p>
            <a:pPr lvl="0">
              <a:spcBef>
                <a:spcPts val="300"/>
              </a:spcBef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what-if engine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target-CGPA goal-seek, arrear impact, “Can I skip tomorrow?”</a:t>
            </a:r>
          </a:p>
          <a:p>
            <a:pPr lvl="0">
              <a:spcBef>
                <a:spcPts val="300"/>
              </a:spcBef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fully local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llama3.2:3b on Ollama + deterministic fallback; data stays on-device.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2610" y="6245225"/>
            <a:ext cx="3569369" cy="476250"/>
          </a:xfrm>
        </p:spPr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16779-F69C-9D76-18CD-D53381943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Dataset and knowledge source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51583-09A8-A345-845F-500096485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500"/>
              </a:spcBef>
              <a:buNone/>
            </a:pPr>
            <a:r>
              <a:rPr lang="en-IN" sz="1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Sources</a:t>
            </a:r>
          </a:p>
          <a:p>
            <a:pPr lvl="1">
              <a:spcBef>
                <a:spcPts val="150"/>
              </a:spcBef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 UG Regulations 2023 (25 pages → 128 blocks) + R2023 AI&amp;ML Curriculum &amp; Syllabus (233 pages → 1,702 blocks)</a:t>
            </a:r>
          </a:p>
          <a:p>
            <a:pPr lvl="1">
              <a:spcBef>
                <a:spcPts val="150"/>
              </a:spcBef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1,830 page-cited blocks, chunked at clause / unit / semester headings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</a:t>
            </a:r>
          </a:p>
          <a:p>
            <a:pPr lvl="1">
              <a:spcBef>
                <a:spcPts val="150"/>
              </a:spcBef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catalogue: 52 courses (Sem I–VIII, L-T-P-C) + 4 elective verticals</a:t>
            </a:r>
          </a:p>
          <a:p>
            <a:pPr lvl="1">
              <a:spcBef>
                <a:spcPts val="150"/>
              </a:spcBef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grades and attendance via the app or validated CSV upload (no real data bundled)</a:t>
            </a:r>
          </a:p>
          <a:p>
            <a:pPr lvl="1">
              <a:spcBef>
                <a:spcPts val="150"/>
              </a:spcBef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placement drives: Zoho, Amazon AWS, Kaar Technologies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1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Data</a:t>
            </a:r>
          </a:p>
          <a:p>
            <a:pPr lvl="1">
              <a:spcBef>
                <a:spcPts val="150"/>
              </a:spcBef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Golden set: 10 questions with ground truth and source page (attendance, passing, CGPA, Honours, curriculum, registration, classification)</a:t>
            </a:r>
          </a:p>
          <a:p>
            <a:pPr lvl="1">
              <a:spcBef>
                <a:spcPts val="150"/>
              </a:spcBef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 automated pytest cases covering rules, agent, email agent, login and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D3264-85B4-5D97-C619-D795C3E5E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FB832-4D90-9F62-76E2-BBB86AF71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50632" y="6245225"/>
            <a:ext cx="3793957" cy="476250"/>
          </a:xfrm>
        </p:spPr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9F309-169C-30CC-3243-FADCEC291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6254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Selection of tools and Framework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859186"/>
            <a:ext cx="10668000" cy="4267200"/>
          </a:xfrm>
        </p:spPr>
        <p:txBody>
          <a:bodyPr>
            <a:noAutofit/>
          </a:bodyPr>
          <a:lstStyle/>
          <a:p>
            <a:pPr marL="0" indent="0">
              <a:spcBef>
                <a:spcPts val="500"/>
              </a:spcBef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Frameworks</a:t>
            </a:r>
          </a:p>
          <a:p>
            <a:pPr lvl="1">
              <a:spcBef>
                <a:spcPts val="15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typed shared state, conditional edges, bounded loops</a:t>
            </a:r>
          </a:p>
          <a:p>
            <a:pPr lvl="1">
              <a:spcBef>
                <a:spcPts val="15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LangChain + langchain-ollama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ChatOllama at temperature 0 with timeouts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Model</a:t>
            </a:r>
          </a:p>
          <a:p>
            <a:pPr lvl="1">
              <a:spcBef>
                <a:spcPts val="15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Ollama llama3.2:3b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fully local, fits a 4 GB GPU, no API keys or cost</a:t>
            </a:r>
          </a:p>
          <a:p>
            <a:pPr lvl="1">
              <a:spcBef>
                <a:spcPts val="15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fallback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heuristic actions when the model is down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&amp; Retrieval</a:t>
            </a:r>
          </a:p>
          <a:p>
            <a:pPr lvl="1">
              <a:spcBef>
                <a:spcPts val="15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PyMuPDF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page-wise PDF extraction with stable page citations</a:t>
            </a:r>
          </a:p>
          <a:p>
            <a:pPr lvl="1">
              <a:spcBef>
                <a:spcPts val="15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retriever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TF-IDF cosine (0.72) + keyword overlap (0.28), pure Python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lvl="1">
              <a:spcBef>
                <a:spcPts val="15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11 tables: profiles, chats + traces, reviews, goals, progress, placement, Gmail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58653" y="6245225"/>
            <a:ext cx="3681663" cy="476250"/>
          </a:xfrm>
        </p:spPr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25F29-56B5-5B54-B67A-74810E36B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Selection of tools and Framework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B84E7-D2FE-DA5D-97BE-189AAA72D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797529"/>
            <a:ext cx="10668000" cy="4301346"/>
          </a:xfrm>
        </p:spPr>
        <p:txBody>
          <a:bodyPr>
            <a:noAutofit/>
          </a:bodyPr>
          <a:lstStyle/>
          <a:p>
            <a:pPr marL="0" indent="0">
              <a:spcBef>
                <a:spcPts val="500"/>
              </a:spcBef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&amp; UI</a:t>
            </a:r>
          </a:p>
          <a:p>
            <a:pPr lvl="1">
              <a:spcBef>
                <a:spcPts val="15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11-page portal with built-in Google (OIDC) sign-in</a:t>
            </a:r>
          </a:p>
          <a:p>
            <a:pPr lvl="1">
              <a:spcBef>
                <a:spcPts val="15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FastAPI + Uvicorn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admin REST API (11 endpoints), bearer-token protected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Integrations</a:t>
            </a:r>
          </a:p>
          <a:p>
            <a:pPr lvl="1">
              <a:spcBef>
                <a:spcPts val="15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Gmail 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(read + send) via Google OAuth</a:t>
            </a:r>
          </a:p>
          <a:p>
            <a:pPr lvl="1">
              <a:spcBef>
                <a:spcPts val="15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APScheduler worker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polls inboxes every 1–10 min (default 2)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  <a:p>
            <a:pPr lvl="1">
              <a:spcBef>
                <a:spcPts val="15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Fernet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encryption for refresh tokens · HMAC token check · college-domain allow-list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Evaluation</a:t>
            </a:r>
          </a:p>
          <a:p>
            <a:pPr lvl="1">
              <a:spcBef>
                <a:spcPts val="15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(34 tests) ·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evaluate.py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golden-set harness → CSV ·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CSV validation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8C207-F3DD-C06A-9339-DA9F3A35A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8074D-CD09-5729-69EE-D0835DD1D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18176-7778-4C58-9588-C81FD5CCD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6667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AB33-B85E-2646-FC65-71C56D964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0"/>
            <a:ext cx="10668000" cy="1216025"/>
          </a:xfrm>
        </p:spPr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Agent workflow and Orchestration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B72D1-19A9-2359-992D-C01936B4B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Memory Agent loads recent turns, goals and progress.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Supervisor picks 1 of 7 intents and logs its reasoning.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loop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Thought → Action (retrieve / tool) → Observation, one step at a time.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Guard-rails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must retrieve before finishing · allow-listed tools only · no repeated tool · max 6 actions.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drafts a cited answer from evidence and tool outputs only.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&amp; reflect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score &lt; 0.65 → rewrite queries and retry (max 2).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Escalate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still uncertain → counsellor queue; every step saved as an execution trace.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event loop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new Gmail → classify → recruitment branch → critic → notify college + personal email.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1243B-C341-9A06-2FA3-49B16C993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7908B-D9AA-4A4B-604B-4F3D7AC2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F640C-6D0B-B48A-BAF7-D13786C61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4163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4251E-D218-B582-7A93-B08A2527C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Agentic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40405-0E64-E4C0-FD5A-3165534CC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Clause-aware ingestion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chunks split at clause / unit / semester headings; source + page kept on every block.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ranking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TF-IDF cosine + exact keyword overlap keeps codes like CS23634 and “Clause 7.2” findable.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Agent-driven retrieval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controller writes focused queries; evidence is merged, re-ranked, top 8 kept.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+ tools fusion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policy evidence and personal calculations combined in one answer.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Grounded output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cites [file p.N – Clause X]; retrieved text treated as data (prompt-injection guard).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Self-correction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low grounding → Reflection rewrites up to 4 queries and re-retrieves.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on the golden set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every answer cited; correct page in the top 4 for 8/10 questions (MRR 0.658).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1821C-2049-0E5C-C62F-9DC45F9D4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EF521-F6C8-8F4A-A653-CFF9DBCC6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D0335-D47B-81D5-BC32-B1A9FD8F8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1183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FC7C6-4A91-7F5E-CDEF-A7BFE595F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Human-in-the-Loop (HITL)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716D4-AE13-C554-D2D0-21A665EF6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52600"/>
            <a:ext cx="10881383" cy="4267200"/>
          </a:xfrm>
        </p:spPr>
        <p:txBody>
          <a:bodyPr>
            <a:noAutofit/>
          </a:bodyPr>
          <a:lstStyle/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Auto-escalation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confidence &lt; 0.65, verifier fail or no evidence → review queue.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Bounded autonomy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max 6 actions and 2 retries, then hand over to a human.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Counsellor view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question, draft answer, why it was flagged and the full agent trace.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 / Reject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decision stored with the case (Counsellor Review page + /reviews API).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Critic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holds back alerts missing company, eligibility or prep plan.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only allow-listed admins see the review, evaluation and report pages.</a:t>
            </a:r>
          </a:p>
          <a:p>
            <a:pPr lvl="0">
              <a:spcBef>
                <a:spcPts val="3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control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own data upload; disconnecting Gmail deletes the stored credentials.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B5659-0A9D-BAB0-4A0B-A0F413252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E4F5E-CA07-DC3B-75EE-BAA5FCD27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F7B64-7575-8466-8489-5F4DD74B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7018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5F017-44C5-93C2-917A-BCBBF5D8C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1" y="1"/>
            <a:ext cx="10668000" cy="704850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Architecture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605A5-C26B-13C4-1C0A-A247C91DE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766F6-45B8-9D0C-6F46-01E6F4A17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Artificial Intelligence and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E6FEC-C2CB-8DCB-599C-9A1B0384D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11</a:t>
            </a:fld>
            <a:endParaRPr lang="en-US" altLang="en-US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061139E4-3B19-8DCC-02FE-1108E0AED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75448" y="704851"/>
            <a:ext cx="11663510" cy="5389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7267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t>12</a:t>
            </a:fld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1284</Words>
  <Application>Microsoft Office PowerPoint</Application>
  <PresentationFormat>Widescreen</PresentationFormat>
  <Paragraphs>126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Times New Roman</vt:lpstr>
      <vt:lpstr>Verdana</vt:lpstr>
      <vt:lpstr>Wingdings</vt:lpstr>
      <vt:lpstr>Profile</vt:lpstr>
      <vt:lpstr>PowerPoint Presentation</vt:lpstr>
      <vt:lpstr>Problem Statement and Motivation</vt:lpstr>
      <vt:lpstr>User and Stakeholder Analysis</vt:lpstr>
      <vt:lpstr>Proposed Agentic AI Solution &amp; Novel Features</vt:lpstr>
      <vt:lpstr>Dataset and knowledge source identification</vt:lpstr>
      <vt:lpstr>Selection of tools and Framework</vt:lpstr>
      <vt:lpstr>Selection of tools and Framework</vt:lpstr>
      <vt:lpstr>Agent workflow and Orchestration</vt:lpstr>
      <vt:lpstr>Agentic RAG</vt:lpstr>
      <vt:lpstr>Human-in-the-Loop (HITL)</vt:lpstr>
      <vt:lpstr>Architecture Diagram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DURAI MURUGAN N</dc:creator>
  <cp:lastModifiedBy>Nithesh Kumar</cp:lastModifiedBy>
  <cp:revision>12</cp:revision>
  <dcterms:created xsi:type="dcterms:W3CDTF">2025-07-29T03:52:08Z</dcterms:created>
  <dcterms:modified xsi:type="dcterms:W3CDTF">2026-10-05T17:38:52Z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1033-5.0.0.7908</vt:lpwstr>
  </property>
</Properties>
</file>